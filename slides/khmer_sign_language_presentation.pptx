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your name. One sentence: I built a system that recognises 11 Khmer sign words and compared three neural networks on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 topics, about one minute each or less. You can delete this slide if you are short of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input and output precisely. MediaPipe turns each frame into 258 numbers; it is a fixed, pretrained step shared by all three models. Only the sequence model is trained, from scratch, in PyTorch.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Self-collected, so I describe it honestly: one person. Balanced, 30 clips per sign. Teal cards are one-handed signs, purple are two-handed. The test set is never used for any decision. [Add one line on recording conditions: sittings, lighting, camera.]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LSTM and GRU read the clip frame by frame and keep a memory. The Transformer lets every frame look at every other frame. GRU has about three quarters of the LSTM's parameters: 3 weight blocks instead of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sentence per block. The best epoch, chosen by validation accuracy, is what gets tested. Fill in the PyTorch version from the second cell of your Colab notebook.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test set, same metrics for every model. Be clear that the gap between GRU and Transformer is one clip.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Top row accuracy, bottom row loss on a log scale. In the Transformer's bottom panel the two lines separate: that is the overfitting signature from class. Early stopping kept the best epoch of each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Choices were made on validation accuracy only. Weight decay made no difference for the GRU. This also tells us the LSTM's weak result is partly a settings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LSTM got sorry, thank you and understand fully right and collapsed the one-handed signs into one answer. Diagnosis: underfitting, not overfitting. I do not claim why the Transformer confused that one pair.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most important slide for honesty. A logistic regression on the clip average, with no concept of time, scores 100% on the test set. So the scores do not prove the models learned movement. A harder test: signs that differ only in movement, or a second signer. Course terms: capacity, data size, regularisation, inductive bias.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these straight; the rubric rewards limitations clearly identified. [If you ran a live test with predict.py, replace the last bullet with your tally.]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takeaways, then the next steps in priority order, then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i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82880"/>
            <a:ext cx="1105876" cy="53035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94944" y="832104"/>
            <a:ext cx="10917936" cy="36576"/>
          </a:xfrm>
          <a:prstGeom prst="rect">
            <a:avLst/>
          </a:prstGeom>
          <a:solidFill>
            <a:srgbClr val="005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84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400800"/>
            <a:ext cx="5486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Times New Roman"/>
              </a:rPr>
              <a:t>Student final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6400800"/>
            <a:ext cx="5486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Times New Roman"/>
              </a:rPr>
              <a:t>Deep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61264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>
                <a:solidFill>
                  <a:srgbClr val="0A593C"/>
                </a:solidFill>
                <a:latin typeface="Arial"/>
              </a:rPr>
              <a:t>Khmer Sign Language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>
                <a:solidFill>
                  <a:srgbClr val="0A593C"/>
                </a:solidFill>
                <a:latin typeface="Arial"/>
              </a:rPr>
              <a:t>Word Recognition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926080"/>
            <a:ext cx="6035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1800" b="0">
                <a:solidFill>
                  <a:srgbClr val="0A593C"/>
                </a:solidFill>
                <a:latin typeface="Arial"/>
              </a:rPr>
              <a:t>Comparing LSTM, GRU and Transformer on landmark sequences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794760"/>
            <a:ext cx="60350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600" b="0">
                <a:solidFill>
                  <a:srgbClr val="111111"/>
                </a:solidFill>
                <a:latin typeface="Arial"/>
              </a:rPr>
              <a:t>Presenter: [Your full name]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600" b="0">
                <a:solidFill>
                  <a:srgbClr val="111111"/>
                </a:solidFill>
                <a:latin typeface="Arial"/>
              </a:rPr>
              <a:t>Course: Deep Learning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600" b="0">
                <a:solidFill>
                  <a:srgbClr val="111111"/>
                </a:solidFill>
                <a:latin typeface="Arial"/>
              </a:rPr>
              <a:t>Lecturer: Mr. Soklong HIM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600" b="0">
                <a:solidFill>
                  <a:srgbClr val="111111"/>
                </a:solidFill>
                <a:latin typeface="Arial"/>
              </a:rPr>
              <a:t>School: Kirirom Institute of Technology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600" b="0">
                <a:solidFill>
                  <a:srgbClr val="111111"/>
                </a:solidFill>
                <a:latin typeface="Arial"/>
              </a:rPr>
              <a:t>Date: [Presentation date]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22592" y="1783080"/>
            <a:ext cx="10972" cy="2926080"/>
          </a:xfrm>
          <a:prstGeom prst="rect">
            <a:avLst/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itle_pa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2048" y="1517904"/>
            <a:ext cx="4261104" cy="36393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i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82880"/>
            <a:ext cx="1105876" cy="53035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94944" y="877824"/>
            <a:ext cx="10917936" cy="36576"/>
          </a:xfrm>
          <a:prstGeom prst="rect">
            <a:avLst/>
          </a:prstGeom>
          <a:solidFill>
            <a:srgbClr val="005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84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400800"/>
            <a:ext cx="5486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Times New Roman"/>
              </a:rPr>
              <a:t>Student final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6400800"/>
            <a:ext cx="5486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Times New Roman"/>
              </a:rPr>
              <a:t>Deep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115568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>
                <a:solidFill>
                  <a:srgbClr val="0A593C"/>
                </a:solidFill>
                <a:latin typeface="Arial"/>
              </a:rPr>
              <a:t>Table of Contents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57400"/>
            <a:ext cx="640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555555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057400"/>
            <a:ext cx="3840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900" b="0">
                <a:solidFill>
                  <a:srgbClr val="111111"/>
                </a:solidFill>
                <a:latin typeface="Arial"/>
              </a:rPr>
              <a:t>Problem and Approach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807208"/>
            <a:ext cx="4526280" cy="10972"/>
          </a:xfrm>
          <a:prstGeom prst="rect">
            <a:avLst/>
          </a:prstGeom>
          <a:solidFill>
            <a:srgbClr val="DAD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862072"/>
            <a:ext cx="640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555555"/>
                </a:solidFill>
                <a:latin typeface="Arial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862072"/>
            <a:ext cx="3840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900" b="0">
                <a:solidFill>
                  <a:srgbClr val="111111"/>
                </a:solidFill>
                <a:latin typeface="Arial"/>
              </a:rPr>
              <a:t>Dataset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3611879"/>
            <a:ext cx="4526280" cy="10972"/>
          </a:xfrm>
          <a:prstGeom prst="rect">
            <a:avLst/>
          </a:prstGeom>
          <a:solidFill>
            <a:srgbClr val="DAD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66744"/>
            <a:ext cx="640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555555"/>
                </a:solidFill>
                <a:latin typeface="Arial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666744"/>
            <a:ext cx="3840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900" b="0">
                <a:solidFill>
                  <a:srgbClr val="111111"/>
                </a:solidFill>
                <a:latin typeface="Arial"/>
              </a:rPr>
              <a:t>Model Architectures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416552"/>
            <a:ext cx="4526280" cy="10972"/>
          </a:xfrm>
          <a:prstGeom prst="rect">
            <a:avLst/>
          </a:prstGeom>
          <a:solidFill>
            <a:srgbClr val="DAD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471416"/>
            <a:ext cx="640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555555"/>
                </a:solidFill>
                <a:latin typeface="Arial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4471416"/>
            <a:ext cx="3840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900" b="0">
                <a:solidFill>
                  <a:srgbClr val="111111"/>
                </a:solidFill>
                <a:latin typeface="Arial"/>
              </a:rPr>
              <a:t>Experimental Setup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5221224"/>
            <a:ext cx="4526280" cy="10972"/>
          </a:xfrm>
          <a:prstGeom prst="rect">
            <a:avLst/>
          </a:prstGeom>
          <a:solidFill>
            <a:srgbClr val="DAD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5276088"/>
            <a:ext cx="640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555555"/>
                </a:solidFill>
                <a:latin typeface="Arial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5276088"/>
            <a:ext cx="3840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900" b="0">
                <a:solidFill>
                  <a:srgbClr val="111111"/>
                </a:solidFill>
                <a:latin typeface="Arial"/>
              </a:rPr>
              <a:t>Results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6025896"/>
            <a:ext cx="4526280" cy="10972"/>
          </a:xfrm>
          <a:prstGeom prst="rect">
            <a:avLst/>
          </a:prstGeom>
          <a:solidFill>
            <a:srgbClr val="DAD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057400"/>
            <a:ext cx="640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555555"/>
                </a:solidFill>
                <a:latin typeface="Arial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2057400"/>
            <a:ext cx="3840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900" b="0">
                <a:solidFill>
                  <a:srgbClr val="111111"/>
                </a:solidFill>
                <a:latin typeface="Arial"/>
              </a:rPr>
              <a:t>Learning Curves and Tuning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2807208"/>
            <a:ext cx="4526280" cy="10972"/>
          </a:xfrm>
          <a:prstGeom prst="rect">
            <a:avLst/>
          </a:prstGeom>
          <a:solidFill>
            <a:srgbClr val="DAD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2862072"/>
            <a:ext cx="640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555555"/>
                </a:solidFill>
                <a:latin typeface="Arial"/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2862072"/>
            <a:ext cx="3840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900" b="0">
                <a:solidFill>
                  <a:srgbClr val="111111"/>
                </a:solidFill>
                <a:latin typeface="Arial"/>
              </a:rPr>
              <a:t>Error Analysis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3611879"/>
            <a:ext cx="4526280" cy="10972"/>
          </a:xfrm>
          <a:prstGeom prst="rect">
            <a:avLst/>
          </a:prstGeom>
          <a:solidFill>
            <a:srgbClr val="DAD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666744"/>
            <a:ext cx="640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555555"/>
                </a:solidFill>
                <a:latin typeface="Arial"/>
              </a:rP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3666744"/>
            <a:ext cx="3840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900" b="0">
                <a:solidFill>
                  <a:srgbClr val="111111"/>
                </a:solidFill>
                <a:latin typeface="Arial"/>
              </a:rPr>
              <a:t>Discussion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5080" y="4416552"/>
            <a:ext cx="4526280" cy="10972"/>
          </a:xfrm>
          <a:prstGeom prst="rect">
            <a:avLst/>
          </a:prstGeom>
          <a:solidFill>
            <a:srgbClr val="DAD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4471416"/>
            <a:ext cx="640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555555"/>
                </a:solidFill>
                <a:latin typeface="Arial"/>
              </a:rPr>
              <a:t>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0" y="4471416"/>
            <a:ext cx="3840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900" b="0">
                <a:solidFill>
                  <a:srgbClr val="111111"/>
                </a:solidFill>
                <a:latin typeface="Arial"/>
              </a:rPr>
              <a:t>Limitations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5080" y="5221224"/>
            <a:ext cx="4526280" cy="10972"/>
          </a:xfrm>
          <a:prstGeom prst="rect">
            <a:avLst/>
          </a:prstGeom>
          <a:solidFill>
            <a:srgbClr val="DAD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5276088"/>
            <a:ext cx="640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555555"/>
                </a:solidFill>
                <a:latin typeface="Arial"/>
              </a:rPr>
              <a:t>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0" y="5276088"/>
            <a:ext cx="3840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900" b="0">
                <a:solidFill>
                  <a:srgbClr val="111111"/>
                </a:solidFill>
                <a:latin typeface="Arial"/>
              </a:rPr>
              <a:t>Conclusion and Next Steps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5080" y="6025896"/>
            <a:ext cx="4526280" cy="10972"/>
          </a:xfrm>
          <a:prstGeom prst="rect">
            <a:avLst/>
          </a:prstGeom>
          <a:solidFill>
            <a:srgbClr val="DAD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i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82880"/>
            <a:ext cx="1105876" cy="53035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94944" y="877824"/>
            <a:ext cx="10917936" cy="36576"/>
          </a:xfrm>
          <a:prstGeom prst="rect">
            <a:avLst/>
          </a:prstGeom>
          <a:solidFill>
            <a:srgbClr val="005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84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400800"/>
            <a:ext cx="5486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Times New Roman"/>
              </a:rPr>
              <a:t>Student final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6400800"/>
            <a:ext cx="5486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Times New Roman"/>
              </a:rPr>
              <a:t>Deep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115568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>
                <a:solidFill>
                  <a:srgbClr val="0A593C"/>
                </a:solidFill>
                <a:latin typeface="Arial"/>
              </a:rPr>
              <a:t>Problem and 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66420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0A593C"/>
                </a:solidFill>
                <a:latin typeface="Arial"/>
              </a:rPr>
              <a:t>From a webcam clip to one of 11 Khmer sign words</a:t>
            </a:r>
          </a:p>
        </p:txBody>
      </p:sp>
      <p:pic>
        <p:nvPicPr>
          <p:cNvPr id="9" name="Picture 8" descr="problem_illust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961138"/>
            <a:ext cx="5852160" cy="230732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040880" y="214884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Arial"/>
              </a:rPr>
              <a:t>What the system does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2606040"/>
            <a:ext cx="45720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74320" indent="-274320">
              <a:lnSpc>
                <a:spcPct val="108000"/>
              </a:lnSpc>
              <a:spcAft>
                <a:spcPts val="600"/>
              </a:spcAft>
              <a:buChar char="•"/>
            </a:pPr>
            <a:r>
              <a:rPr sz="1500" b="0">
                <a:solidFill>
                  <a:srgbClr val="111111"/>
                </a:solidFill>
                <a:latin typeface="Arial"/>
              </a:rPr>
              <a:t>Input: a webcam clip, 90 frames × 258 landmark values (about 3 s)</a:t>
            </a:r>
          </a:p>
          <a:p>
            <a:pPr algn="l" marL="274320" indent="-274320">
              <a:lnSpc>
                <a:spcPct val="108000"/>
              </a:lnSpc>
              <a:spcAft>
                <a:spcPts val="600"/>
              </a:spcAft>
              <a:buChar char="•"/>
            </a:pPr>
            <a:r>
              <a:rPr sz="1500" b="0">
                <a:solidFill>
                  <a:srgbClr val="111111"/>
                </a:solidFill>
                <a:latin typeface="Arial"/>
              </a:rPr>
              <a:t>Output: one of 11 words (multi-class sequence classification)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37947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Arial"/>
              </a:rPr>
              <a:t>Why it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4251960"/>
            <a:ext cx="4572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74320" indent="-274320">
              <a:lnSpc>
                <a:spcPct val="108000"/>
              </a:lnSpc>
              <a:spcAft>
                <a:spcPts val="600"/>
              </a:spcAft>
              <a:buChar char="•"/>
            </a:pPr>
            <a:r>
              <a:rPr sz="1500" b="0">
                <a:solidFill>
                  <a:srgbClr val="111111"/>
                </a:solidFill>
                <a:latin typeface="Arial"/>
              </a:rPr>
              <a:t>Khmer Sign Language has very little data or software; a webcam-only recogniser is a first step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507492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Arial"/>
              </a:rPr>
              <a:t>The question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5532120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74320" indent="-274320">
              <a:lnSpc>
                <a:spcPct val="108000"/>
              </a:lnSpc>
              <a:spcAft>
                <a:spcPts val="600"/>
              </a:spcAft>
              <a:buChar char="•"/>
            </a:pPr>
            <a:r>
              <a:rPr sz="1500" b="0">
                <a:solidFill>
                  <a:srgbClr val="111111"/>
                </a:solidFill>
                <a:latin typeface="Arial"/>
              </a:rPr>
              <a:t>Which model reads the signs best: LSTM, GRU or Transformer?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i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82880"/>
            <a:ext cx="1105876" cy="53035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94944" y="877824"/>
            <a:ext cx="10917936" cy="36576"/>
          </a:xfrm>
          <a:prstGeom prst="rect">
            <a:avLst/>
          </a:prstGeom>
          <a:solidFill>
            <a:srgbClr val="005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84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400800"/>
            <a:ext cx="5486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Times New Roman"/>
              </a:rPr>
              <a:t>Student final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6400800"/>
            <a:ext cx="5486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Times New Roman"/>
              </a:rPr>
              <a:t>Deep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115568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>
                <a:solidFill>
                  <a:srgbClr val="0A593C"/>
                </a:solidFill>
                <a:latin typeface="Arial"/>
              </a:rPr>
              <a:t>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66420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0A593C"/>
                </a:solidFill>
                <a:latin typeface="Arial"/>
              </a:rPr>
              <a:t>Self-collected landmarks, 11 signs, fixed split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4884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3000" b="1">
                <a:solidFill>
                  <a:srgbClr val="111111"/>
                </a:solidFill>
                <a:latin typeface="Arial"/>
              </a:rPr>
              <a:t>330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4320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300" b="0">
                <a:solidFill>
                  <a:srgbClr val="555555"/>
                </a:solidFill>
                <a:latin typeface="Arial"/>
              </a:rPr>
              <a:t>clips (30 per sign)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214884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3000" b="1">
                <a:solidFill>
                  <a:srgbClr val="111111"/>
                </a:solidFill>
                <a:latin typeface="Arial"/>
              </a:rPr>
              <a:t>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74320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300" b="0">
                <a:solidFill>
                  <a:srgbClr val="555555"/>
                </a:solidFill>
                <a:latin typeface="Arial"/>
              </a:rPr>
              <a:t>sign classes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14884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3000" b="1">
                <a:solidFill>
                  <a:srgbClr val="111111"/>
                </a:solidFill>
                <a:latin typeface="Arial"/>
              </a:rPr>
              <a:t>230 / 50 / 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274320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300" b="0">
                <a:solidFill>
                  <a:srgbClr val="555555"/>
                </a:solidFill>
                <a:latin typeface="Arial"/>
              </a:rPr>
              <a:t>train / validation / test</a:t>
            </a:r>
          </a:p>
        </p:txBody>
      </p:sp>
      <p:pic>
        <p:nvPicPr>
          <p:cNvPr id="15" name="Picture 14" descr="sign_cards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3246120"/>
            <a:ext cx="5511338" cy="30175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223760" y="3337560"/>
            <a:ext cx="4389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Arial"/>
              </a:rPr>
              <a:t>Notes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3840480"/>
            <a:ext cx="43891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74320" indent="-274320">
              <a:lnSpc>
                <a:spcPct val="108000"/>
              </a:lnSpc>
              <a:spcAft>
                <a:spcPts val="800"/>
              </a:spcAft>
              <a:buChar char="•"/>
            </a:pPr>
            <a:r>
              <a:rPr sz="1500" b="0">
                <a:solidFill>
                  <a:srgbClr val="111111"/>
                </a:solidFill>
                <a:latin typeface="Arial"/>
              </a:rPr>
              <a:t>One signer, one webcam; balanced classes</a:t>
            </a:r>
          </a:p>
          <a:p>
            <a:pPr algn="l" marL="274320" indent="-274320">
              <a:lnSpc>
                <a:spcPct val="108000"/>
              </a:lnSpc>
              <a:spcAft>
                <a:spcPts val="800"/>
              </a:spcAft>
              <a:buChar char="•"/>
            </a:pPr>
            <a:r>
              <a:rPr sz="1500" b="0">
                <a:solidFill>
                  <a:srgbClr val="111111"/>
                </a:solidFill>
                <a:latin typeface="Arial"/>
              </a:rPr>
              <a:t>Fixed, stratified split (seed 42), same for every model</a:t>
            </a:r>
          </a:p>
          <a:p>
            <a:pPr algn="l" marL="274320" indent="-274320">
              <a:lnSpc>
                <a:spcPct val="108000"/>
              </a:lnSpc>
              <a:spcAft>
                <a:spcPts val="800"/>
              </a:spcAft>
              <a:buChar char="•"/>
            </a:pPr>
            <a:r>
              <a:rPr sz="1500" b="0">
                <a:solidFill>
                  <a:srgbClr val="111111"/>
                </a:solidFill>
                <a:latin typeface="Arial"/>
              </a:rPr>
              <a:t>Preprocessing: MediaPipe landmarks only; no augmentation</a:t>
            </a:r>
          </a:p>
          <a:p>
            <a:pPr algn="l" marL="274320" indent="-274320">
              <a:lnSpc>
                <a:spcPct val="108000"/>
              </a:lnSpc>
              <a:spcAft>
                <a:spcPts val="800"/>
              </a:spcAft>
              <a:buChar char="•"/>
            </a:pPr>
            <a:r>
              <a:rPr sz="1500" b="0">
                <a:solidFill>
                  <a:srgbClr val="111111"/>
                </a:solidFill>
                <a:latin typeface="Arial"/>
              </a:rPr>
              <a:t>A hand the camera misses is stored as zeros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i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82880"/>
            <a:ext cx="1105876" cy="53035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94944" y="877824"/>
            <a:ext cx="10917936" cy="36576"/>
          </a:xfrm>
          <a:prstGeom prst="rect">
            <a:avLst/>
          </a:prstGeom>
          <a:solidFill>
            <a:srgbClr val="005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84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400800"/>
            <a:ext cx="5486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Times New Roman"/>
              </a:rPr>
              <a:t>Student final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6400800"/>
            <a:ext cx="5486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Times New Roman"/>
              </a:rPr>
              <a:t>Deep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115568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>
                <a:solidFill>
                  <a:srgbClr val="0A593C"/>
                </a:solidFill>
                <a:latin typeface="Arial"/>
              </a:rPr>
              <a:t>Model Architectures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66420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0A593C"/>
                </a:solidFill>
                <a:latin typeface="Arial"/>
              </a:rPr>
              <a:t>Three networks compared on the same task</a:t>
            </a:r>
          </a:p>
        </p:txBody>
      </p:sp>
      <p:pic>
        <p:nvPicPr>
          <p:cNvPr id="9" name="Picture 8" descr="fig_architectu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11680"/>
            <a:ext cx="7290230" cy="4297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503920" y="210312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900" b="1">
                <a:solidFill>
                  <a:srgbClr val="C98600"/>
                </a:solidFill>
                <a:latin typeface="Arial"/>
              </a:rPr>
              <a:t>LSTM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251460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555555"/>
                </a:solidFill>
                <a:latin typeface="Arial"/>
              </a:rPr>
              <a:t>Gated memory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97180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900" b="1">
                <a:solidFill>
                  <a:srgbClr val="0072B2"/>
                </a:solidFill>
                <a:latin typeface="Arial"/>
              </a:rPr>
              <a:t>GRU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338328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555555"/>
                </a:solidFill>
                <a:latin typeface="Arial"/>
              </a:rPr>
              <a:t>Simpler gates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84048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900" b="1">
                <a:solidFill>
                  <a:srgbClr val="009E73"/>
                </a:solidFill>
                <a:latin typeface="Arial"/>
              </a:rPr>
              <a:t>Transformer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425196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555555"/>
                </a:solidFill>
                <a:latin typeface="Arial"/>
              </a:rPr>
              <a:t>Self-attention, no recurrence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480060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Arial"/>
              </a:rPr>
              <a:t>Why these three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5166360"/>
            <a:ext cx="3200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555555"/>
                </a:solidFill>
                <a:latin typeface="Arial"/>
              </a:rPr>
              <a:t>Sequence models from Sessions 07–08, all trained from scratch; only the architecture changes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i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82880"/>
            <a:ext cx="1105876" cy="53035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94944" y="877824"/>
            <a:ext cx="10917936" cy="36576"/>
          </a:xfrm>
          <a:prstGeom prst="rect">
            <a:avLst/>
          </a:prstGeom>
          <a:solidFill>
            <a:srgbClr val="005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84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400800"/>
            <a:ext cx="5486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Times New Roman"/>
              </a:rPr>
              <a:t>Student final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6400800"/>
            <a:ext cx="5486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Times New Roman"/>
              </a:rPr>
              <a:t>Deep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115568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>
                <a:solidFill>
                  <a:srgbClr val="0A593C"/>
                </a:solidFill>
                <a:latin typeface="Arial"/>
              </a:rPr>
              <a:t>Experimental 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66420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0A593C"/>
                </a:solidFill>
                <a:latin typeface="Arial"/>
              </a:rPr>
              <a:t>Same data, same metrics, same training recipe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402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900" b="1">
                <a:solidFill>
                  <a:srgbClr val="111111"/>
                </a:solidFill>
                <a:latin typeface="Arial"/>
              </a:rPr>
              <a:t>Data and 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97480"/>
            <a:ext cx="51206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  <a:latin typeface="Arial"/>
              </a:rPr>
              <a:t>230 / 50 / 50 split, same for every model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  <a:latin typeface="Arial"/>
              </a:rPr>
              <a:t>Accuracy (main), macro F1, confusion matrix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6052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900" b="1">
                <a:solidFill>
                  <a:srgbClr val="111111"/>
                </a:solidFill>
                <a:latin typeface="Arial"/>
              </a:rPr>
              <a:t>Training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617720"/>
            <a:ext cx="51206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  <a:latin typeface="Arial"/>
              </a:rPr>
              <a:t>Cross-entropy loss, Adam, learning rate 1e-3, batch size 16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  <a:latin typeface="Arial"/>
              </a:rPr>
              <a:t>Early stopping (patience 25), dropout 0.2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2402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900" b="1">
                <a:solidFill>
                  <a:srgbClr val="111111"/>
                </a:solidFill>
                <a:latin typeface="Arial"/>
              </a:rPr>
              <a:t>Tuning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697480"/>
            <a:ext cx="51206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  <a:latin typeface="Arial"/>
              </a:rPr>
              <a:t>Learning rate {1e-3, 5e-4, 1e-4} × weight decay {0, 1e-4}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  <a:latin typeface="Arial"/>
              </a:rPr>
              <a:t>Chosen on validation accuracy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16052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900" b="1">
                <a:solidFill>
                  <a:srgbClr val="111111"/>
                </a:solidFill>
                <a:latin typeface="Arial"/>
              </a:rPr>
              <a:t>Reproducibility and hardware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617720"/>
            <a:ext cx="51206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  <a:latin typeface="Arial"/>
              </a:rPr>
              <a:t>Seed 42, torch.save checkpoints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  <a:latin typeface="Arial"/>
              </a:rPr>
              <a:t>Colab Tesla T4, 6–8 s per model, [PyTorch version]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i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82880"/>
            <a:ext cx="1105876" cy="53035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94944" y="877824"/>
            <a:ext cx="10917936" cy="36576"/>
          </a:xfrm>
          <a:prstGeom prst="rect">
            <a:avLst/>
          </a:prstGeom>
          <a:solidFill>
            <a:srgbClr val="005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84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400800"/>
            <a:ext cx="5486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Times New Roman"/>
              </a:rPr>
              <a:t>Student final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6400800"/>
            <a:ext cx="5486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Times New Roman"/>
              </a:rPr>
              <a:t>Deep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115568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>
                <a:solidFill>
                  <a:srgbClr val="0A593C"/>
                </a:solidFill>
                <a:latin typeface="Arial"/>
              </a:rPr>
              <a:t>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66420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0A593C"/>
                </a:solidFill>
                <a:latin typeface="Arial"/>
              </a:rPr>
              <a:t>Same 50 test clips for every model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22960" y="2240280"/>
          <a:ext cx="7040880" cy="18288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1280160"/>
                <a:gridCol w="1188720"/>
                <a:gridCol w="1554480"/>
                <a:gridCol w="100584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Approach</a:t>
                      </a:r>
                    </a:p>
                  </a:txBody>
                  <a:tcPr anchor="ctr" marL="109728" marR="109728">
                    <a:solidFill>
                      <a:srgbClr val="0A59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Accuracy</a:t>
                      </a:r>
                    </a:p>
                  </a:txBody>
                  <a:tcPr anchor="ctr" marL="109728" marR="109728">
                    <a:solidFill>
                      <a:srgbClr val="0A59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Macro F1</a:t>
                      </a:r>
                    </a:p>
                  </a:txBody>
                  <a:tcPr anchor="ctr" marL="109728" marR="109728">
                    <a:solidFill>
                      <a:srgbClr val="0A59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Parameters</a:t>
                      </a:r>
                    </a:p>
                  </a:txBody>
                  <a:tcPr anchor="ctr" marL="109728" marR="109728">
                    <a:solidFill>
                      <a:srgbClr val="0A59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Time</a:t>
                      </a:r>
                    </a:p>
                  </a:txBody>
                  <a:tcPr anchor="ctr" marL="109728" marR="109728">
                    <a:solidFill>
                      <a:srgbClr val="0A593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11111"/>
                          </a:solidFill>
                          <a:latin typeface="Arial"/>
                        </a:rPr>
                        <a:t>GRU</a:t>
                      </a:r>
                    </a:p>
                  </a:txBody>
                  <a:tcPr anchor="ctr" marL="109728" marR="109728">
                    <a:solidFill>
                      <a:srgbClr val="DDF0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anchor="ctr" marL="109728" marR="109728">
                    <a:solidFill>
                      <a:srgbClr val="DDF0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1.00</a:t>
                      </a:r>
                    </a:p>
                  </a:txBody>
                  <a:tcPr anchor="ctr" marL="109728" marR="109728">
                    <a:solidFill>
                      <a:srgbClr val="DDF0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178,827</a:t>
                      </a:r>
                    </a:p>
                  </a:txBody>
                  <a:tcPr anchor="ctr" marL="109728" marR="109728">
                    <a:solidFill>
                      <a:srgbClr val="DDF0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5.8 s</a:t>
                      </a:r>
                    </a:p>
                  </a:txBody>
                  <a:tcPr anchor="ctr" marL="109728" marR="109728">
                    <a:solidFill>
                      <a:srgbClr val="DDF0E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11111"/>
                          </a:solidFill>
                          <a:latin typeface="Arial"/>
                        </a:rPr>
                        <a:t>Transformer</a:t>
                      </a:r>
                    </a:p>
                  </a:txBody>
                  <a:tcPr anchor="ctr" marL="109728" marR="109728">
                    <a:solidFill>
                      <a:srgbClr val="F1F6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98%</a:t>
                      </a:r>
                    </a:p>
                  </a:txBody>
                  <a:tcPr anchor="ctr" marL="109728" marR="109728">
                    <a:solidFill>
                      <a:srgbClr val="F1F6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0.98</a:t>
                      </a:r>
                    </a:p>
                  </a:txBody>
                  <a:tcPr anchor="ctr" marL="109728" marR="109728">
                    <a:solidFill>
                      <a:srgbClr val="F1F6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307,083</a:t>
                      </a:r>
                    </a:p>
                  </a:txBody>
                  <a:tcPr anchor="ctr" marL="109728" marR="109728">
                    <a:solidFill>
                      <a:srgbClr val="F1F6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8.1 s</a:t>
                      </a:r>
                    </a:p>
                  </a:txBody>
                  <a:tcPr anchor="ctr" marL="109728" marR="109728">
                    <a:solidFill>
                      <a:srgbClr val="F1F6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11111"/>
                          </a:solidFill>
                          <a:latin typeface="Arial"/>
                        </a:rPr>
                        <a:t>LSTM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38%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0.31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236,811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6.7 s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0" name="Picture 9" descr="fig_accuracy_ba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2700556"/>
            <a:ext cx="3566160" cy="291992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2960" y="4389120"/>
            <a:ext cx="69494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74320" indent="-274320">
              <a:lnSpc>
                <a:spcPct val="108000"/>
              </a:lnSpc>
              <a:spcAft>
                <a:spcPts val="800"/>
              </a:spcAft>
              <a:buChar char="•"/>
            </a:pPr>
            <a:r>
              <a:rPr sz="1400" b="0">
                <a:solidFill>
                  <a:srgbClr val="111111"/>
                </a:solidFill>
                <a:latin typeface="Arial"/>
              </a:rPr>
              <a:t>Errors out of 50: GRU 0, Transformer 1, LSTM 31</a:t>
            </a:r>
          </a:p>
          <a:p>
            <a:pPr algn="l" marL="274320" indent="-274320">
              <a:lnSpc>
                <a:spcPct val="108000"/>
              </a:lnSpc>
              <a:spcAft>
                <a:spcPts val="800"/>
              </a:spcAft>
              <a:buChar char="•"/>
            </a:pPr>
            <a:r>
              <a:rPr sz="1400" b="0">
                <a:solidFill>
                  <a:srgbClr val="111111"/>
                </a:solidFill>
                <a:latin typeface="Arial"/>
              </a:rPr>
              <a:t>95% intervals: GRU 93%–100%, Transformer 90%–100%. Not separable with 50 clips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i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82880"/>
            <a:ext cx="1105876" cy="53035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94944" y="877824"/>
            <a:ext cx="10917936" cy="36576"/>
          </a:xfrm>
          <a:prstGeom prst="rect">
            <a:avLst/>
          </a:prstGeom>
          <a:solidFill>
            <a:srgbClr val="005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84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400800"/>
            <a:ext cx="5486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Times New Roman"/>
              </a:rPr>
              <a:t>Student final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6400800"/>
            <a:ext cx="5486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Times New Roman"/>
              </a:rPr>
              <a:t>Deep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115568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>
                <a:solidFill>
                  <a:srgbClr val="0A593C"/>
                </a:solidFill>
                <a:latin typeface="Arial"/>
              </a:rPr>
              <a:t>Learning Curves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66420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0A593C"/>
                </a:solidFill>
                <a:latin typeface="Arial"/>
              </a:rPr>
              <a:t>Training vs validation, per model</a:t>
            </a:r>
          </a:p>
        </p:txBody>
      </p:sp>
      <p:pic>
        <p:nvPicPr>
          <p:cNvPr id="9" name="Picture 8" descr="fig_curves_train_v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11680"/>
            <a:ext cx="7532401" cy="4297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869680" y="228600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900" b="1">
                <a:solidFill>
                  <a:srgbClr val="C98600"/>
                </a:solidFill>
                <a:latin typeface="Arial"/>
              </a:rPr>
              <a:t>LSTM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2697480"/>
            <a:ext cx="2834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555555"/>
                </a:solidFill>
                <a:latin typeface="Arial"/>
              </a:rPr>
              <a:t>Underfits: training accuracy only 40%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356616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900" b="1">
                <a:solidFill>
                  <a:srgbClr val="0072B2"/>
                </a:solidFill>
                <a:latin typeface="Arial"/>
              </a:rPr>
              <a:t>GRU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3977639"/>
            <a:ext cx="2834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555555"/>
                </a:solidFill>
                <a:latin typeface="Arial"/>
              </a:rPr>
              <a:t>Fits cleanly: no gap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484632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900" b="1">
                <a:solidFill>
                  <a:srgbClr val="009E73"/>
                </a:solidFill>
                <a:latin typeface="Arial"/>
              </a:rPr>
              <a:t>Transformer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5257800"/>
            <a:ext cx="2834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555555"/>
                </a:solidFill>
                <a:latin typeface="Arial"/>
              </a:rPr>
              <a:t>Slight overfit: validation loss rises after epoch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i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82880"/>
            <a:ext cx="1105876" cy="53035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94944" y="877824"/>
            <a:ext cx="10917936" cy="36576"/>
          </a:xfrm>
          <a:prstGeom prst="rect">
            <a:avLst/>
          </a:prstGeom>
          <a:solidFill>
            <a:srgbClr val="005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84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400800"/>
            <a:ext cx="5486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Times New Roman"/>
              </a:rPr>
              <a:t>Student final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6400800"/>
            <a:ext cx="5486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Times New Roman"/>
              </a:rPr>
              <a:t>Deep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115568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>
                <a:solidFill>
                  <a:srgbClr val="0A593C"/>
                </a:solidFill>
                <a:latin typeface="Arial"/>
              </a:rPr>
              <a:t>Hyperparameter Tuning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66420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0A593C"/>
                </a:solidFill>
                <a:latin typeface="Arial"/>
              </a:rPr>
              <a:t>Learning rate × weight decay, chosen on validation</a:t>
            </a:r>
          </a:p>
        </p:txBody>
      </p:sp>
      <p:pic>
        <p:nvPicPr>
          <p:cNvPr id="9" name="Picture 8" descr="fig_tu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671282"/>
            <a:ext cx="7498079" cy="288703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12480" y="2240280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Arial"/>
              </a:rPr>
              <a:t>What we found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743200"/>
            <a:ext cx="329184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74320" indent="-274320"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400" b="0">
                <a:solidFill>
                  <a:srgbClr val="111111"/>
                </a:solidFill>
                <a:latin typeface="Arial"/>
              </a:rPr>
              <a:t>GRU: 4 of 6 settings reach 100%; learning rate 1e-4 is too slow (82%–86%)</a:t>
            </a:r>
          </a:p>
          <a:p>
            <a:pPr algn="l" marL="274320" indent="-274320"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400" b="0">
                <a:solidFill>
                  <a:srgbClr val="111111"/>
                </a:solidFill>
                <a:latin typeface="Arial"/>
              </a:rPr>
              <a:t>LSTM: a lower learning rate lifts validation accuracy from 48% to 70%</a:t>
            </a:r>
          </a:p>
          <a:p>
            <a:pPr algn="l" marL="274320" indent="-274320"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400" b="0">
                <a:solidFill>
                  <a:srgbClr val="111111"/>
                </a:solidFill>
                <a:latin typeface="Arial"/>
              </a:rPr>
              <a:t>The LSTM in the results uses the default rate; retraining it is future work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i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82880"/>
            <a:ext cx="1105876" cy="53035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94944" y="877824"/>
            <a:ext cx="10917936" cy="36576"/>
          </a:xfrm>
          <a:prstGeom prst="rect">
            <a:avLst/>
          </a:prstGeom>
          <a:solidFill>
            <a:srgbClr val="005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84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400800"/>
            <a:ext cx="5486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Times New Roman"/>
              </a:rPr>
              <a:t>Student final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6400800"/>
            <a:ext cx="5486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Times New Roman"/>
              </a:rPr>
              <a:t>Deep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115568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>
                <a:solidFill>
                  <a:srgbClr val="0A593C"/>
                </a:solidFill>
                <a:latin typeface="Arial"/>
              </a:rPr>
              <a:t>Error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66420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0A593C"/>
                </a:solidFill>
                <a:latin typeface="Arial"/>
              </a:rPr>
              <a:t>What each model got wrong, and why</a:t>
            </a:r>
          </a:p>
        </p:txBody>
      </p:sp>
      <p:pic>
        <p:nvPicPr>
          <p:cNvPr id="9" name="Picture 8" descr="fig_lstm_erro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20617"/>
            <a:ext cx="7680960" cy="27883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503920" y="224028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Arial"/>
              </a:rPr>
              <a:t>What went wrong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2743200"/>
            <a:ext cx="320040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74320" indent="-274320">
              <a:lnSpc>
                <a:spcPct val="108000"/>
              </a:lnSpc>
              <a:spcAft>
                <a:spcPts val="900"/>
              </a:spcAft>
              <a:buChar char="•"/>
            </a:pPr>
            <a:r>
              <a:rPr sz="1400" b="0">
                <a:solidFill>
                  <a:srgbClr val="111111"/>
                </a:solidFill>
                <a:latin typeface="Arial"/>
              </a:rPr>
              <a:t>GRU: 0 errors</a:t>
            </a:r>
          </a:p>
          <a:p>
            <a:pPr algn="l" marL="274320" indent="-274320">
              <a:lnSpc>
                <a:spcPct val="108000"/>
              </a:lnSpc>
              <a:spcAft>
                <a:spcPts val="900"/>
              </a:spcAft>
              <a:buChar char="•"/>
            </a:pPr>
            <a:r>
              <a:rPr sz="1400" b="0">
                <a:solidFill>
                  <a:srgbClr val="111111"/>
                </a:solidFill>
                <a:latin typeface="Arial"/>
              </a:rPr>
              <a:t>Transformer: 1 error (understand read as don't understand)</a:t>
            </a:r>
          </a:p>
          <a:p>
            <a:pPr algn="l" marL="274320" indent="-274320">
              <a:lnSpc>
                <a:spcPct val="108000"/>
              </a:lnSpc>
              <a:spcAft>
                <a:spcPts val="900"/>
              </a:spcAft>
              <a:buChar char="•"/>
            </a:pPr>
            <a:r>
              <a:rPr sz="1400" b="0">
                <a:solidFill>
                  <a:srgbClr val="111111"/>
                </a:solidFill>
                <a:latin typeface="Arial"/>
              </a:rPr>
              <a:t>LSTM: 31 errors; 24 were “understand” at about 0.18 confidence (chance is 0.09)</a:t>
            </a:r>
          </a:p>
          <a:p>
            <a:pPr algn="l" marL="274320" indent="-274320">
              <a:lnSpc>
                <a:spcPct val="108000"/>
              </a:lnSpc>
              <a:spcAft>
                <a:spcPts val="900"/>
              </a:spcAft>
              <a:buChar char="•"/>
            </a:pPr>
            <a:r>
              <a:rPr sz="1400" b="0">
                <a:solidFill>
                  <a:srgbClr val="111111"/>
                </a:solidFill>
                <a:latin typeface="Arial"/>
              </a:rPr>
              <a:t>All from one-handed signs: it learned which hands are present, not the movement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i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82880"/>
            <a:ext cx="1105876" cy="53035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94944" y="877824"/>
            <a:ext cx="10917936" cy="36576"/>
          </a:xfrm>
          <a:prstGeom prst="rect">
            <a:avLst/>
          </a:prstGeom>
          <a:solidFill>
            <a:srgbClr val="005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84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400800"/>
            <a:ext cx="5486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Times New Roman"/>
              </a:rPr>
              <a:t>Student final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6400800"/>
            <a:ext cx="5486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Times New Roman"/>
              </a:rPr>
              <a:t>Deep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115568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>
                <a:solidFill>
                  <a:srgbClr val="0A593C"/>
                </a:solidFill>
                <a:latin typeface="Arial"/>
              </a:rPr>
              <a:t>Why GRU Won, and a Caution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66420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0A593C"/>
                </a:solidFill>
                <a:latin typeface="Arial"/>
              </a:rPr>
              <a:t>Explaining the results with course concepts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402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Arial"/>
              </a:rPr>
              <a:t>Why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43200"/>
            <a:ext cx="548640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74320" indent="-274320">
              <a:lnSpc>
                <a:spcPct val="108000"/>
              </a:lnSpc>
              <a:spcAft>
                <a:spcPts val="1200"/>
              </a:spcAft>
              <a:buChar char="•"/>
            </a:pPr>
            <a:r>
              <a:rPr sz="1600" b="0">
                <a:solidFill>
                  <a:srgbClr val="111111"/>
                </a:solidFill>
                <a:latin typeface="Arial"/>
              </a:rPr>
              <a:t>GRU beats LSTM: little data (230 clips) and 90 steps; fewer parameters, easier to optimise</a:t>
            </a:r>
          </a:p>
          <a:p>
            <a:pPr algn="l" marL="274320" indent="-274320">
              <a:lnSpc>
                <a:spcPct val="108000"/>
              </a:lnSpc>
              <a:spcAft>
                <a:spcPts val="1200"/>
              </a:spcAft>
              <a:buChar char="•"/>
            </a:pPr>
            <a:r>
              <a:rPr sz="1600" b="0">
                <a:solidFill>
                  <a:srgbClr val="111111"/>
                </a:solidFill>
                <a:latin typeface="Arial"/>
              </a:rPr>
              <a:t>Transformer is close: attention reaches every frame; the larger model overfits slightly</a:t>
            </a:r>
          </a:p>
          <a:p>
            <a:pPr algn="l" marL="274320" indent="-274320">
              <a:lnSpc>
                <a:spcPct val="108000"/>
              </a:lnSpc>
              <a:spcAft>
                <a:spcPts val="1200"/>
              </a:spcAft>
              <a:buChar char="•"/>
            </a:pPr>
            <a:r>
              <a:rPr sz="1600" b="0">
                <a:solidFill>
                  <a:srgbClr val="111111"/>
                </a:solidFill>
                <a:latin typeface="Arial"/>
              </a:rPr>
              <a:t>But the dataset is easy: a model with no sense of order also scores 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224028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Arial"/>
              </a:rPr>
              <a:t>Frame-order test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949440" y="2743200"/>
          <a:ext cx="4663440" cy="21945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1280160"/>
                <a:gridCol w="1371600"/>
              </a:tblGrid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 marL="109728" marR="109728">
                    <a:solidFill>
                      <a:srgbClr val="0A59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Normal order</a:t>
                      </a:r>
                    </a:p>
                  </a:txBody>
                  <a:tcPr anchor="ctr" marL="109728" marR="109728">
                    <a:solidFill>
                      <a:srgbClr val="0A59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Frames shuffled</a:t>
                      </a:r>
                    </a:p>
                  </a:txBody>
                  <a:tcPr anchor="ctr" marL="109728" marR="109728">
                    <a:solidFill>
                      <a:srgbClr val="0A593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11111"/>
                          </a:solidFill>
                          <a:latin typeface="Arial"/>
                        </a:rPr>
                        <a:t>GRU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11111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11111"/>
                          </a:solidFill>
                          <a:latin typeface="Arial"/>
                        </a:rPr>
                        <a:t>94%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11111"/>
                          </a:solidFill>
                          <a:latin typeface="Arial"/>
                        </a:rPr>
                        <a:t>Transformer</a:t>
                      </a:r>
                    </a:p>
                  </a:txBody>
                  <a:tcPr anchor="ctr" marL="109728" marR="109728">
                    <a:solidFill>
                      <a:srgbClr val="F1F6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11111"/>
                          </a:solidFill>
                          <a:latin typeface="Arial"/>
                        </a:rPr>
                        <a:t>98%</a:t>
                      </a:r>
                    </a:p>
                  </a:txBody>
                  <a:tcPr anchor="ctr" marL="109728" marR="109728">
                    <a:solidFill>
                      <a:srgbClr val="F1F6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11111"/>
                          </a:solidFill>
                          <a:latin typeface="Arial"/>
                        </a:rPr>
                        <a:t>93%</a:t>
                      </a:r>
                    </a:p>
                  </a:txBody>
                  <a:tcPr anchor="ctr" marL="109728" marR="109728">
                    <a:solidFill>
                      <a:srgbClr val="F1F6F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11111"/>
                          </a:solidFill>
                          <a:latin typeface="Arial"/>
                        </a:rPr>
                        <a:t>LSTM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11111"/>
                          </a:solidFill>
                          <a:latin typeface="Arial"/>
                        </a:rPr>
                        <a:t>38%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11111"/>
                          </a:solidFill>
                          <a:latin typeface="Arial"/>
                        </a:rPr>
                        <a:t>35%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11111"/>
                          </a:solidFill>
                          <a:latin typeface="Arial"/>
                        </a:rPr>
                        <a:t>No-order baseline</a:t>
                      </a:r>
                    </a:p>
                  </a:txBody>
                  <a:tcPr anchor="ctr" marL="109728" marR="109728">
                    <a:solidFill>
                      <a:srgbClr val="F1F6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11111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anchor="ctr" marL="109728" marR="109728">
                    <a:solidFill>
                      <a:srgbClr val="F1F6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11111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anchor="ctr" marL="109728" marR="109728">
                    <a:solidFill>
                      <a:srgbClr val="F1F6F3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949440" y="5120640"/>
            <a:ext cx="4663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1400" b="0">
                <a:solidFill>
                  <a:srgbClr val="555555"/>
                </a:solidFill>
                <a:latin typeface="Arial"/>
              </a:rPr>
              <a:t>Shuffling the frames barely hurts, so the models rely on hand shape and position more than on movement.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i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82880"/>
            <a:ext cx="1105876" cy="53035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94944" y="877824"/>
            <a:ext cx="10917936" cy="36576"/>
          </a:xfrm>
          <a:prstGeom prst="rect">
            <a:avLst/>
          </a:prstGeom>
          <a:solidFill>
            <a:srgbClr val="005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84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400800"/>
            <a:ext cx="5486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Times New Roman"/>
              </a:rPr>
              <a:t>Student final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6400800"/>
            <a:ext cx="5486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Times New Roman"/>
              </a:rPr>
              <a:t>Deep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115568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>
                <a:solidFill>
                  <a:srgbClr val="0A593C"/>
                </a:solidFill>
                <a:latin typeface="Arial"/>
              </a:rPr>
              <a:t>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66420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0A593C"/>
                </a:solidFill>
                <a:latin typeface="Arial"/>
              </a:rPr>
              <a:t>Honest limits of this study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40280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Arial"/>
              </a:rPr>
              <a:t>Data and evaluation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43200"/>
            <a:ext cx="530352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74320" indent="-274320">
              <a:lnSpc>
                <a:spcPct val="108000"/>
              </a:lnSpc>
              <a:spcAft>
                <a:spcPts val="1200"/>
              </a:spcAft>
              <a:buChar char="•"/>
            </a:pPr>
            <a:r>
              <a:rPr sz="1600" b="0">
                <a:solidFill>
                  <a:srgbClr val="111111"/>
                </a:solidFill>
                <a:latin typeface="Arial"/>
              </a:rPr>
              <a:t>One signer, one room: no evidence for other people, cameras or lighting</a:t>
            </a:r>
          </a:p>
          <a:p>
            <a:pPr algn="l" marL="274320" indent="-274320">
              <a:lnSpc>
                <a:spcPct val="108000"/>
              </a:lnSpc>
              <a:spcAft>
                <a:spcPts val="1200"/>
              </a:spcAft>
              <a:buChar char="•"/>
            </a:pPr>
            <a:r>
              <a:rPr sz="1600" b="0">
                <a:solidFill>
                  <a:srgbClr val="111111"/>
                </a:solidFill>
                <a:latin typeface="Arial"/>
              </a:rPr>
              <a:t>Small data: 30 clips per sign; one test clip is worth 2 points</a:t>
            </a:r>
          </a:p>
          <a:p>
            <a:pPr algn="l" marL="274320" indent="-274320">
              <a:lnSpc>
                <a:spcPct val="108000"/>
              </a:lnSpc>
              <a:spcAft>
                <a:spcPts val="1200"/>
              </a:spcAft>
              <a:buChar char="•"/>
            </a:pPr>
            <a:r>
              <a:rPr sz="1600" b="0">
                <a:solidFill>
                  <a:srgbClr val="111111"/>
                </a:solidFill>
                <a:latin typeface="Arial"/>
              </a:rPr>
              <a:t>Easy dataset: frame order is barely used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24028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Arial"/>
              </a:rPr>
              <a:t>Method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743200"/>
            <a:ext cx="512064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74320" indent="-274320">
              <a:lnSpc>
                <a:spcPct val="108000"/>
              </a:lnSpc>
              <a:spcAft>
                <a:spcPts val="1200"/>
              </a:spcAft>
              <a:buChar char="•"/>
            </a:pPr>
            <a:r>
              <a:rPr sz="1600" b="0">
                <a:solidFill>
                  <a:srgbClr val="111111"/>
                </a:solidFill>
                <a:latin typeface="Arial"/>
              </a:rPr>
              <a:t>Raw coordinates, and a missed hand becomes zeros: possible shortcuts</a:t>
            </a:r>
          </a:p>
          <a:p>
            <a:pPr algn="l" marL="274320" indent="-274320">
              <a:lnSpc>
                <a:spcPct val="108000"/>
              </a:lnSpc>
              <a:spcAft>
                <a:spcPts val="1200"/>
              </a:spcAft>
              <a:buChar char="•"/>
            </a:pPr>
            <a:r>
              <a:rPr sz="1600" b="0">
                <a:solidFill>
                  <a:srgbClr val="111111"/>
                </a:solidFill>
                <a:latin typeface="Arial"/>
              </a:rPr>
              <a:t>No augmentation</a:t>
            </a:r>
          </a:p>
          <a:p>
            <a:pPr algn="l" marL="274320" indent="-274320">
              <a:lnSpc>
                <a:spcPct val="108000"/>
              </a:lnSpc>
              <a:spcAft>
                <a:spcPts val="1200"/>
              </a:spcAft>
              <a:buChar char="•"/>
            </a:pPr>
            <a:r>
              <a:rPr sz="1600" b="0">
                <a:solidFill>
                  <a:srgbClr val="111111"/>
                </a:solidFill>
                <a:latin typeface="Arial"/>
              </a:rPr>
              <a:t>Live webcam accuracy not measured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i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82880"/>
            <a:ext cx="1105876" cy="53035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94944" y="877824"/>
            <a:ext cx="10917936" cy="36576"/>
          </a:xfrm>
          <a:prstGeom prst="rect">
            <a:avLst/>
          </a:prstGeom>
          <a:solidFill>
            <a:srgbClr val="005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84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400800"/>
            <a:ext cx="5486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Times New Roman"/>
              </a:rPr>
              <a:t>Student final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6400800"/>
            <a:ext cx="5486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Times New Roman"/>
              </a:rPr>
              <a:t>Deep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115568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>
                <a:solidFill>
                  <a:srgbClr val="0A593C"/>
                </a:solidFill>
                <a:latin typeface="Arial"/>
              </a:rPr>
              <a:t>Conclusion and Next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66420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0A593C"/>
                </a:solidFill>
                <a:latin typeface="Arial"/>
              </a:rPr>
              <a:t>Key takeaways and prioritised future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40280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Arial"/>
              </a:rPr>
              <a:t>Conclusion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43200"/>
            <a:ext cx="530352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74320" indent="-274320">
              <a:lnSpc>
                <a:spcPct val="108000"/>
              </a:lnSpc>
              <a:spcAft>
                <a:spcPts val="1200"/>
              </a:spcAft>
              <a:buChar char="•"/>
            </a:pPr>
            <a:r>
              <a:rPr sz="1600" b="0">
                <a:solidFill>
                  <a:srgbClr val="111111"/>
                </a:solidFill>
                <a:latin typeface="Arial"/>
              </a:rPr>
              <a:t>GRU best (100%), Transformer 98%, LSTM 38%</a:t>
            </a:r>
          </a:p>
          <a:p>
            <a:pPr algn="l" marL="274320" indent="-274320">
              <a:lnSpc>
                <a:spcPct val="108000"/>
              </a:lnSpc>
              <a:spcAft>
                <a:spcPts val="1200"/>
              </a:spcAft>
              <a:buChar char="•"/>
            </a:pPr>
            <a:r>
              <a:rPr sz="1600" b="0">
                <a:solidFill>
                  <a:srgbClr val="111111"/>
                </a:solidFill>
                <a:latin typeface="Arial"/>
              </a:rPr>
              <a:t>Same data, split, seed and metrics for all three</a:t>
            </a:r>
          </a:p>
          <a:p>
            <a:pPr algn="l" marL="274320" indent="-274320">
              <a:lnSpc>
                <a:spcPct val="108000"/>
              </a:lnSpc>
              <a:spcAft>
                <a:spcPts val="1200"/>
              </a:spcAft>
              <a:buChar char="•"/>
            </a:pPr>
            <a:r>
              <a:rPr sz="1600" b="0">
                <a:solidFill>
                  <a:srgbClr val="111111"/>
                </a:solidFill>
                <a:latin typeface="Arial"/>
              </a:rPr>
              <a:t>Honest finding: an easy dataset, order barely used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24028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Arial"/>
              </a:rPr>
              <a:t>Next steps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743200"/>
            <a:ext cx="512064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74320" indent="-274320">
              <a:lnSpc>
                <a:spcPct val="108000"/>
              </a:lnSpc>
              <a:spcAft>
                <a:spcPts val="1200"/>
              </a:spcAft>
              <a:buChar char="•"/>
            </a:pPr>
            <a:r>
              <a:rPr sz="1600" b="0">
                <a:solidFill>
                  <a:srgbClr val="111111"/>
                </a:solidFill>
                <a:latin typeface="Arial"/>
              </a:rPr>
              <a:t>Record a second signer</a:t>
            </a:r>
          </a:p>
          <a:p>
            <a:pPr algn="l" marL="274320" indent="-274320">
              <a:lnSpc>
                <a:spcPct val="108000"/>
              </a:lnSpc>
              <a:spcAft>
                <a:spcPts val="1200"/>
              </a:spcAft>
              <a:buChar char="•"/>
            </a:pPr>
            <a:r>
              <a:rPr sz="1600" b="0">
                <a:solidFill>
                  <a:srgbClr val="111111"/>
                </a:solidFill>
                <a:latin typeface="Arial"/>
              </a:rPr>
              <a:t>Add signs that differ only in movement</a:t>
            </a:r>
          </a:p>
          <a:p>
            <a:pPr algn="l" marL="274320" indent="-274320">
              <a:lnSpc>
                <a:spcPct val="108000"/>
              </a:lnSpc>
              <a:spcAft>
                <a:spcPts val="1200"/>
              </a:spcAft>
              <a:buChar char="•"/>
            </a:pPr>
            <a:r>
              <a:rPr sz="1600" b="0">
                <a:solidFill>
                  <a:srgbClr val="111111"/>
                </a:solidFill>
                <a:latin typeface="Arial"/>
              </a:rPr>
              <a:t>Augmentation and body-relative coordinates</a:t>
            </a:r>
          </a:p>
          <a:p>
            <a:pPr algn="l" marL="274320" indent="-274320">
              <a:lnSpc>
                <a:spcPct val="108000"/>
              </a:lnSpc>
              <a:spcAft>
                <a:spcPts val="1200"/>
              </a:spcAft>
              <a:buChar char="•"/>
            </a:pPr>
            <a:r>
              <a:rPr sz="1600" b="0">
                <a:solidFill>
                  <a:srgbClr val="111111"/>
                </a:solidFill>
                <a:latin typeface="Arial"/>
              </a:rPr>
              <a:t>Retrain the tuned LSTM; live accuracy test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i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82880"/>
            <a:ext cx="1105876" cy="53035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94944" y="877824"/>
            <a:ext cx="10917936" cy="36576"/>
          </a:xfrm>
          <a:prstGeom prst="rect">
            <a:avLst/>
          </a:prstGeom>
          <a:solidFill>
            <a:srgbClr val="005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84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400800"/>
            <a:ext cx="5486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Times New Roman"/>
              </a:rPr>
              <a:t>Student final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6400800"/>
            <a:ext cx="5486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Times New Roman"/>
              </a:rPr>
              <a:t>Deep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2743200"/>
            <a:ext cx="10789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4800" b="1">
                <a:solidFill>
                  <a:srgbClr val="0A593C"/>
                </a:solidFill>
                <a:latin typeface="Arial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397763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555555"/>
                </a:solidFill>
                <a:latin typeface="Arial"/>
              </a:rPr>
              <a:t>Questions?   ·   github.com/rinrin168/khmersignlanguage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i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82880"/>
            <a:ext cx="1105876" cy="53035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94944" y="877824"/>
            <a:ext cx="10917936" cy="36576"/>
          </a:xfrm>
          <a:prstGeom prst="rect">
            <a:avLst/>
          </a:prstGeom>
          <a:solidFill>
            <a:srgbClr val="005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84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400800"/>
            <a:ext cx="5486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Times New Roman"/>
              </a:rPr>
              <a:t>Student final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6400800"/>
            <a:ext cx="5486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Times New Roman"/>
              </a:rPr>
              <a:t>Deep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115568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>
                <a:solidFill>
                  <a:srgbClr val="0A593C"/>
                </a:solidFill>
                <a:latin typeface="Arial"/>
              </a:rPr>
              <a:t>Backup: Per-Sign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66420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0A593C"/>
                </a:solidFill>
                <a:latin typeface="Arial"/>
              </a:rPr>
              <a:t>For questions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40280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Arial"/>
              </a:rPr>
              <a:t>Transformer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43200"/>
            <a:ext cx="530352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74320" indent="-274320"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500" b="0">
                <a:solidFill>
                  <a:srgbClr val="111111"/>
                </a:solidFill>
                <a:latin typeface="Arial"/>
              </a:rPr>
              <a:t>Recall 100% for every sign except: understand 75%</a:t>
            </a:r>
          </a:p>
          <a:p>
            <a:pPr algn="l" marL="274320" indent="-274320"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500" b="0">
                <a:solidFill>
                  <a:srgbClr val="111111"/>
                </a:solidFill>
                <a:latin typeface="Arial"/>
              </a:rPr>
              <a:t>Precision below 100%: don't understand 83%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24028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Arial"/>
              </a:rPr>
              <a:t>LSTM (recall per sign)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743200"/>
            <a:ext cx="512064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74320" indent="-274320"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500" b="0">
                <a:solidFill>
                  <a:srgbClr val="111111"/>
                </a:solidFill>
                <a:latin typeface="Arial"/>
              </a:rPr>
              <a:t>100%: sorry, thank you, understand</a:t>
            </a:r>
          </a:p>
          <a:p>
            <a:pPr algn="l" marL="274320" indent="-274320"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500" b="0">
                <a:solidFill>
                  <a:srgbClr val="111111"/>
                </a:solidFill>
                <a:latin typeface="Arial"/>
              </a:rPr>
              <a:t>75%: again, hearing person</a:t>
            </a:r>
          </a:p>
          <a:p>
            <a:pPr algn="l" marL="274320" indent="-274320"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500" b="0">
                <a:solidFill>
                  <a:srgbClr val="111111"/>
                </a:solidFill>
                <a:latin typeface="Arial"/>
              </a:rPr>
              <a:t>0%: correct, deaf person, delicious, don't understand, how are you, incorrect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i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82880"/>
            <a:ext cx="1105876" cy="53035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94944" y="877824"/>
            <a:ext cx="10917936" cy="36576"/>
          </a:xfrm>
          <a:prstGeom prst="rect">
            <a:avLst/>
          </a:prstGeom>
          <a:solidFill>
            <a:srgbClr val="005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84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400800"/>
            <a:ext cx="5486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Times New Roman"/>
              </a:rPr>
              <a:t>Student final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6400800"/>
            <a:ext cx="5486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Times New Roman"/>
              </a:rPr>
              <a:t>Deep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115568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>
                <a:solidFill>
                  <a:srgbClr val="0A593C"/>
                </a:solidFill>
                <a:latin typeface="Arial"/>
              </a:rPr>
              <a:t>Backup: Reproducibility and AI 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66420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0A593C"/>
                </a:solidFill>
                <a:latin typeface="Arial"/>
              </a:rPr>
              <a:t>For questions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40280"/>
            <a:ext cx="1060704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74320" indent="-274320">
              <a:lnSpc>
                <a:spcPct val="108000"/>
              </a:lnSpc>
              <a:spcAft>
                <a:spcPts val="1200"/>
              </a:spcAft>
              <a:buChar char="•"/>
            </a:pPr>
            <a:r>
              <a:rPr sz="1600" b="0">
                <a:solidFill>
                  <a:srgbClr val="111111"/>
                </a:solidFill>
                <a:latin typeface="Arial"/>
              </a:rPr>
              <a:t>Code, data and results: github.com/rinrin168/khmersignlanguage</a:t>
            </a:r>
          </a:p>
          <a:p>
            <a:pPr algn="l" marL="274320" indent="-274320">
              <a:lnSpc>
                <a:spcPct val="108000"/>
              </a:lnSpc>
              <a:spcAft>
                <a:spcPts val="1200"/>
              </a:spcAft>
              <a:buChar char="•"/>
            </a:pPr>
            <a:r>
              <a:rPr sz="1600" b="0">
                <a:solidFill>
                  <a:srgbClr val="111111"/>
                </a:solidFill>
                <a:latin typeface="Arial"/>
              </a:rPr>
              <a:t>Seed 42 (Python, NumPy, PyTorch), fixed split from src/preprocess.py, torch.save checkpoints</a:t>
            </a:r>
          </a:p>
          <a:p>
            <a:pPr algn="l" marL="274320" indent="-274320">
              <a:lnSpc>
                <a:spcPct val="108000"/>
              </a:lnSpc>
              <a:spcAft>
                <a:spcPts val="1200"/>
              </a:spcAft>
              <a:buChar char="•"/>
            </a:pPr>
            <a:r>
              <a:rPr sz="1600" b="0">
                <a:solidFill>
                  <a:srgbClr val="111111"/>
                </a:solidFill>
                <a:latin typeface="Arial"/>
              </a:rPr>
              <a:t>MediaPipe Holistic (Google, Apache 2.0): fixed feature extractor, not trained by me</a:t>
            </a:r>
          </a:p>
          <a:p>
            <a:pPr algn="l" marL="274320" indent="-274320">
              <a:lnSpc>
                <a:spcPct val="108000"/>
              </a:lnSpc>
              <a:spcAft>
                <a:spcPts val="1200"/>
              </a:spcAft>
              <a:buChar char="•"/>
            </a:pPr>
            <a:r>
              <a:rPr sz="1600" b="0">
                <a:solidFill>
                  <a:srgbClr val="111111"/>
                </a:solidFill>
                <a:latin typeface="Arial"/>
              </a:rPr>
              <a:t>AI assistance: Claude (Anthropic) for drafting and debugging code, figures and the README; code and analysis checked by me  [edit this line so it is true for you]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